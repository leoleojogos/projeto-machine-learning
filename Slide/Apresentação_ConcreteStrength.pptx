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embeddedFontLst>
    <p:embeddedFont>
      <p:font typeface="IBM Plex Mono SemiBold"/>
      <p:regular r:id="rId13"/>
    </p:embeddedFont>
    <p:embeddedFont>
      <p:font typeface="Space Grotesk"/>
      <p:regular r:id="rId14"/>
      <p:bold r:id="rId14"/>
    </p:embeddedFont>
    <p:embeddedFont>
      <p:font typeface="Space Grotesk Medium"/>
      <p:regular r:id="rId15"/>
    </p:embeddedFont>
    <p:embeddedFont>
      <p:font typeface="Barlow Condensed ExtraBold"/>
      <p:regular r:id="rId16"/>
    </p:embeddedFont>
    <p:embeddedFont>
      <p:font typeface="+mn-lt"/>
    </p:embeddedFont>
    <p:embeddedFont>
      <p:font typeface="IBM Plex Mono Medium"/>
      <p:regular r:id="rId17"/>
    </p:embeddedFont>
    <p:embeddedFont>
      <p:font typeface="Space Grotesk SemiBold"/>
    </p:embeddedFont>
    <p:embeddedFont>
      <p:font typeface="Space Grotesk Bold"/>
    </p:embeddedFont>
    <p:embeddedFont>
      <p:font typeface="+mn-ea"/>
    </p:embeddedFont>
    <p:embeddedFont>
      <p:font typeface="Lucida Sans"/>
      <p:regular r:id="rId18"/>
    </p:embeddedFont>
    <p:embeddedFont>
      <p:font typeface="+mn-c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font" Target="fonts/Font_1_IBM_Plex_Mono_SemiBold_Regular.fntdata"/><Relationship Id="rId14" Type="http://schemas.openxmlformats.org/officeDocument/2006/relationships/font" Target="fonts/Font_2_Space_Grotesk_Regular.fntdata"/><Relationship Id="rId15" Type="http://schemas.openxmlformats.org/officeDocument/2006/relationships/font" Target="fonts/Font_3_Space_Grotesk_Medium_Regular.fntdata"/><Relationship Id="rId16" Type="http://schemas.openxmlformats.org/officeDocument/2006/relationships/font" Target="fonts/Font_4_Barlow_Condensed_ExtraBold_Regular.fntdata"/><Relationship Id="rId17" Type="http://schemas.openxmlformats.org/officeDocument/2006/relationships/font" Target="fonts/Font_5_IBM_Plex_Mono_Medium_Regular.fntdata"/><Relationship Id="rId18" Type="http://schemas.openxmlformats.org/officeDocument/2006/relationships/font" Target="fonts/Font_6_Lucida_Sans_Regular.fntdata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921A571-B313-4861-AADE-C1B1622C824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4D5D38-D693-4A14-B303-01FE43A77B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17ECA2-B890-445B-B4C9-10C99043C0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25A9AB-A6B0-4174-A5F1-79A7E8726A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C73532-FF40-4B5F-9711-EABDCBAAC5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A7AB20-C77E-4D7C-8072-867C84F004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4052F4-FDB4-4721-AFF4-680F6FBE30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625090-AA02-4747-A6DC-5D4C965A01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6E8AA9-5906-4065-9A9F-2E54DDC508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64E47F-0776-4B7C-8A64-CFE177BFB68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513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Shape 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0000">
              <a:alpha val="2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513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6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609480" y="660240"/>
            <a:ext cx="10972080" cy="4749840"/>
          </a:xfrm>
          <a:prstGeom prst="rect">
            <a:avLst/>
          </a:prstGeom>
          <a:solidFill>
            <a:srgbClr val="ECE7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609480" y="660240"/>
            <a:ext cx="50400" cy="4749840"/>
          </a:xfrm>
          <a:prstGeom prst="rect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1041480" y="939960"/>
            <a:ext cx="107942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15130F"/>
                </a:solidFill>
                <a:effectLst/>
                <a:uFillTx/>
                <a:latin typeface="IBM Plex Mono SemiBold"/>
                <a:ea typeface="IBM Plex Mono SemiBold"/>
              </a:rPr>
              <a:t>DEFESA DE PROJETO · MACHINE LEARNING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1041480" y="1198440"/>
            <a:ext cx="10184760" cy="27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5800" b="0" u="none" spc="-173" strike="noStrike">
                <a:solidFill>
                  <a:srgbClr val="15130F"/>
                </a:solidFill>
                <a:effectLst/>
                <a:uFillTx/>
                <a:latin typeface="Barlow Condensed ExtraBold"/>
                <a:ea typeface="Barlow Condensed ExtraBold"/>
              </a:rPr>
              <a:t>APLICAÇÃO DE MACHINE LEARNING NA PREVISÃO DA RESISTÊNCIA À COMPRESSÃO E CLASSIFICAÇÃO DO RISCO TÉCNICO DE MISTURAS DE CONCRETO</a:t>
            </a:r>
            <a:endParaRPr lang="en-US" sz="5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1041480" y="4077360"/>
            <a:ext cx="1079424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O uso de IA como ferramenta complementar no controle tecnológico de materiais.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1041480" y="4527720"/>
            <a:ext cx="107942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5130F"/>
                </a:solidFill>
                <a:effectLst/>
                <a:uFillTx/>
                <a:latin typeface="IBM Plex Mono Medium"/>
                <a:ea typeface="IBM Plex Mono Medium"/>
              </a:rPr>
              <a:t>GUILHERME VICTOR MACHADO · TIAGO ALBUQUERQUE PORTELLA · LEONARDO DA CRUZ RAMOS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6"/>
          <p:cNvSpPr/>
          <p:nvPr/>
        </p:nvSpPr>
        <p:spPr>
          <a:xfrm>
            <a:off x="1041480" y="4861080"/>
            <a:ext cx="10184760" cy="12240"/>
          </a:xfrm>
          <a:prstGeom prst="rect">
            <a:avLst/>
          </a:prstGeom>
          <a:solidFill>
            <a:srgbClr val="C9C1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1041480" y="4861080"/>
            <a:ext cx="1018476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1520" rIns="0" bIns="0" anchor="t">
            <a:norm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5130F"/>
                </a:solidFill>
                <a:effectLst/>
                <a:uFillTx/>
                <a:latin typeface="IBM Plex Mono Medium"/>
                <a:ea typeface="IBM Plex Mono Medium"/>
              </a:rPr>
              <a:t>PREVISÃO CONTÍNUA · TRIAGEM DE RISCO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1041480" y="4874040"/>
            <a:ext cx="88560" cy="69480"/>
          </a:xfrm>
          <a:prstGeom prst="rect">
            <a:avLst/>
          </a:prstGeom>
          <a:solidFill>
            <a:srgbClr val="1513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533520" y="431640"/>
            <a:ext cx="678132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3350EE"/>
                </a:solidFill>
                <a:effectLst/>
                <a:uFillTx/>
                <a:latin typeface="IBM Plex Mono SemiBold"/>
                <a:ea typeface="IBM Plex Mono SemiBold"/>
              </a:rPr>
              <a:t>01 · PROBLEMA TÉCNICO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533520" y="690480"/>
            <a:ext cx="6349320" cy="14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4200" b="0" u="none" spc="-125" strike="noStrike">
                <a:solidFill>
                  <a:srgbClr val="15130F"/>
                </a:solidFill>
                <a:effectLst/>
                <a:uFillTx/>
                <a:latin typeface="Barlow Condensed ExtraBold"/>
                <a:ea typeface="Barlow Condensed ExtraBold"/>
              </a:rPr>
              <a:t>A RESISTÊNCIA DO CONCRETO RESULTA DE MÚLTIPLAS VARIÁVEIS E NÃO DE UMA RELAÇÃO LINEAR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0" descr="preencoded.png"/>
          <p:cNvPicPr/>
          <p:nvPr/>
        </p:nvPicPr>
        <p:blipFill>
          <a:blip r:embed="rId1"/>
          <a:stretch/>
        </p:blipFill>
        <p:spPr>
          <a:xfrm>
            <a:off x="533520" y="2265480"/>
            <a:ext cx="431280" cy="43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2"/>
          <p:cNvSpPr/>
          <p:nvPr/>
        </p:nvSpPr>
        <p:spPr>
          <a:xfrm>
            <a:off x="1320840" y="2365560"/>
            <a:ext cx="556200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Entradas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1320840" y="2780640"/>
            <a:ext cx="556200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Cimento, água, agregados, idade e adições minerais/químicas.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1" descr="preencoded.png"/>
          <p:cNvPicPr/>
          <p:nvPr/>
        </p:nvPicPr>
        <p:blipFill>
          <a:blip r:embed="rId2"/>
          <a:stretch/>
        </p:blipFill>
        <p:spPr>
          <a:xfrm>
            <a:off x="533520" y="3733560"/>
            <a:ext cx="431280" cy="43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4"/>
          <p:cNvSpPr/>
          <p:nvPr/>
        </p:nvSpPr>
        <p:spPr>
          <a:xfrm>
            <a:off x="1320840" y="3833640"/>
            <a:ext cx="556200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Limitação atual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1320840" y="4248720"/>
            <a:ext cx="556200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Ensaios destrutivos em laboratório consomem tempo e materiais.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2" descr="preencoded.png"/>
          <p:cNvPicPr/>
          <p:nvPr/>
        </p:nvPicPr>
        <p:blipFill>
          <a:blip r:embed="rId3"/>
          <a:stretch/>
        </p:blipFill>
        <p:spPr>
          <a:xfrm>
            <a:off x="533520" y="5201280"/>
            <a:ext cx="431280" cy="43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6"/>
          <p:cNvSpPr/>
          <p:nvPr/>
        </p:nvSpPr>
        <p:spPr>
          <a:xfrm>
            <a:off x="1320840" y="5301720"/>
            <a:ext cx="556200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Proposta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1320840" y="5716440"/>
            <a:ext cx="556200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Usar Machine Learning para triagem e estimativa prévia, sem substituir normas ou ensaios.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3" descr="preencoded.png"/>
          <p:cNvPicPr/>
          <p:nvPr/>
        </p:nvPicPr>
        <p:blipFill>
          <a:blip r:embed="rId4"/>
          <a:stretch/>
        </p:blipFill>
        <p:spPr>
          <a:xfrm>
            <a:off x="7314840" y="0"/>
            <a:ext cx="4876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Shape 8"/>
          <p:cNvSpPr/>
          <p:nvPr/>
        </p:nvSpPr>
        <p:spPr>
          <a:xfrm>
            <a:off x="533520" y="3598560"/>
            <a:ext cx="6349320" cy="12240"/>
          </a:xfrm>
          <a:prstGeom prst="rect">
            <a:avLst/>
          </a:prstGeom>
          <a:solidFill>
            <a:srgbClr val="C9C1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533520" y="5066640"/>
            <a:ext cx="6349320" cy="12240"/>
          </a:xfrm>
          <a:prstGeom prst="rect">
            <a:avLst/>
          </a:prstGeom>
          <a:solidFill>
            <a:srgbClr val="C9C1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457200" y="457200"/>
            <a:ext cx="117342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3350EE"/>
                </a:solidFill>
                <a:effectLst/>
                <a:uFillTx/>
                <a:latin typeface="IBM Plex Mono SemiBold"/>
                <a:ea typeface="IBM Plex Mono SemiBold"/>
              </a:rPr>
              <a:t>02 · BASE DE DADOS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457200" y="716040"/>
            <a:ext cx="11277000" cy="9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4200" b="0" u="none" spc="-125" strike="noStrike">
                <a:solidFill>
                  <a:srgbClr val="15130F"/>
                </a:solidFill>
                <a:effectLst/>
                <a:uFillTx/>
                <a:latin typeface="Barlow Condensed ExtraBold"/>
                <a:ea typeface="Barlow Condensed ExtraBold"/>
              </a:rPr>
              <a:t>UMA BASE PÚBLICA PERMITE COMBINAR PREVISÃO CONTÍNUA E TRIAGEM DE RISCO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457200" y="1865520"/>
            <a:ext cx="112770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1520" rIns="0" bIns="0" anchor="t">
            <a:norm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C564C"/>
                </a:solidFill>
                <a:effectLst/>
                <a:uFillTx/>
                <a:latin typeface="IBM Plex Mono Medium"/>
                <a:ea typeface="IBM Plex Mono Medium"/>
              </a:rPr>
              <a:t>DATASET · VARIÁVEIS · OBJETIVO GERAL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457200" y="1878120"/>
            <a:ext cx="88560" cy="69480"/>
          </a:xfrm>
          <a:prstGeom prst="rect">
            <a:avLst/>
          </a:prstGeom>
          <a:solidFill>
            <a:srgbClr val="1513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457200" y="2364120"/>
            <a:ext cx="3758760" cy="4036320"/>
          </a:xfrm>
          <a:custGeom>
            <a:avLst/>
            <a:gdLst>
              <a:gd name="textAreaLeft" fmla="*/ 0 w 3758760"/>
              <a:gd name="textAreaRight" fmla="*/ 3759120 w 3758760"/>
              <a:gd name="textAreaTop" fmla="*/ 0 h 4036320"/>
              <a:gd name="textAreaBottom" fmla="*/ 4036680 h 4036320"/>
            </a:gdLst>
            <a:ahLst/>
            <a:cxnLst/>
            <a:rect l="textAreaLeft" t="textAreaTop" r="textAreaRight" b="textAreaBottom"/>
            <a:pathLst>
              <a:path w="3759106" h="4036715">
                <a:moveTo>
                  <a:pt x="9525" y="0"/>
                </a:moveTo>
                <a:lnTo>
                  <a:pt x="3759106" y="0"/>
                </a:lnTo>
                <a:lnTo>
                  <a:pt x="3759106" y="4036715"/>
                </a:lnTo>
                <a:lnTo>
                  <a:pt x="9525" y="4036715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ECE7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736560" y="2669040"/>
            <a:ext cx="34794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15130F"/>
                </a:solidFill>
                <a:effectLst/>
                <a:uFillTx/>
                <a:latin typeface="IBM Plex Mono SemiBold"/>
                <a:ea typeface="IBM Plex Mono SemiBold"/>
              </a:rPr>
              <a:t>DATASET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736560" y="2927520"/>
            <a:ext cx="32000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5800" b="0" u="none" spc="-173" strike="noStrike">
                <a:solidFill>
                  <a:srgbClr val="15130F"/>
                </a:solidFill>
                <a:effectLst/>
                <a:uFillTx/>
                <a:latin typeface="Barlow Condensed ExtraBold"/>
                <a:ea typeface="Barlow Condensed ExtraBold"/>
              </a:rPr>
              <a:t>1.030</a:t>
            </a:r>
            <a:endParaRPr lang="en-US" sz="5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736560" y="3703680"/>
            <a:ext cx="32000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amostras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736560" y="4118760"/>
            <a:ext cx="320004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Concrete Compressive Strength, UCI ID 165.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9"/>
          <p:cNvSpPr/>
          <p:nvPr/>
        </p:nvSpPr>
        <p:spPr>
          <a:xfrm>
            <a:off x="4216320" y="2364120"/>
            <a:ext cx="3758760" cy="4036320"/>
          </a:xfrm>
          <a:prstGeom prst="rect">
            <a:avLst/>
          </a:prstGeom>
          <a:solidFill>
            <a:srgbClr val="ECE7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4495680" y="2669040"/>
            <a:ext cx="34794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15130F"/>
                </a:solidFill>
                <a:effectLst/>
                <a:uFillTx/>
                <a:latin typeface="IBM Plex Mono SemiBold"/>
                <a:ea typeface="IBM Plex Mono SemiBold"/>
              </a:rPr>
              <a:t>VARIÁVEIS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4495680" y="2927520"/>
            <a:ext cx="3200040" cy="18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Cimento, escória, cinza volante, água, superplastificante, agregados e idade em dias.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7975440" y="2364120"/>
            <a:ext cx="3758760" cy="4036320"/>
          </a:xfrm>
          <a:custGeom>
            <a:avLst/>
            <a:gdLst>
              <a:gd name="textAreaLeft" fmla="*/ 0 w 3758760"/>
              <a:gd name="textAreaRight" fmla="*/ 3759120 w 3758760"/>
              <a:gd name="textAreaTop" fmla="*/ 0 h 4036320"/>
              <a:gd name="textAreaBottom" fmla="*/ 4036680 h 4036320"/>
            </a:gdLst>
            <a:ahLst/>
            <a:cxnLst/>
            <a:rect l="textAreaLeft" t="textAreaTop" r="textAreaRight" b="textAreaBottom"/>
            <a:pathLst>
              <a:path w="3759106" h="4036715">
                <a:moveTo>
                  <a:pt x="0" y="0"/>
                </a:moveTo>
                <a:lnTo>
                  <a:pt x="3749581" y="0"/>
                </a:lnTo>
                <a:arcTo wR="9525" hR="9525" stAng="16200000" swAng="5400000"/>
                <a:lnTo>
                  <a:pt x="3759106" y="4027190"/>
                </a:lnTo>
                <a:arcTo wR="9525" hR="9525" stAng="0" swAng="5400000"/>
                <a:lnTo>
                  <a:pt x="0" y="4036715"/>
                </a:lnTo>
                <a:lnTo>
                  <a:pt x="0" y="0"/>
                </a:lnTo>
                <a:close/>
              </a:path>
            </a:pathLst>
          </a:cu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3"/>
          <p:cNvSpPr/>
          <p:nvPr/>
        </p:nvSpPr>
        <p:spPr>
          <a:xfrm>
            <a:off x="8254800" y="2669040"/>
            <a:ext cx="34794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FFFFFF"/>
                </a:solidFill>
                <a:effectLst/>
                <a:uFillTx/>
                <a:latin typeface="IBM Plex Mono SemiBold"/>
                <a:ea typeface="IBM Plex Mono SemiBold"/>
              </a:rPr>
              <a:t>OBJETIVO GERAL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8254800" y="2927520"/>
            <a:ext cx="3200040" cy="18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Space Grotesk Medium"/>
                <a:ea typeface="Space Grotesk Medium"/>
              </a:rPr>
              <a:t>Prever a resistência e classificar o risco de baixa resistência com Machine Learning clássico.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5"/>
          <p:cNvSpPr/>
          <p:nvPr/>
        </p:nvSpPr>
        <p:spPr>
          <a:xfrm>
            <a:off x="4209840" y="2364120"/>
            <a:ext cx="12240" cy="4036320"/>
          </a:xfrm>
          <a:prstGeom prst="rect">
            <a:avLst/>
          </a:prstGeom>
          <a:solidFill>
            <a:srgbClr val="C9C1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6"/>
          <p:cNvSpPr/>
          <p:nvPr/>
        </p:nvSpPr>
        <p:spPr>
          <a:xfrm>
            <a:off x="7968960" y="2364120"/>
            <a:ext cx="12240" cy="4036320"/>
          </a:xfrm>
          <a:prstGeom prst="rect">
            <a:avLst/>
          </a:prstGeom>
          <a:solidFill>
            <a:srgbClr val="C9C1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57200" y="457200"/>
            <a:ext cx="117342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3350EE"/>
                </a:solidFill>
                <a:effectLst/>
                <a:uFillTx/>
                <a:latin typeface="IBM Plex Mono SemiBold"/>
                <a:ea typeface="IBM Plex Mono SemiBold"/>
              </a:rPr>
              <a:t>03 · PERGUNTAS DO PROJETO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457200" y="716040"/>
            <a:ext cx="11277000" cy="9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4200" b="0" u="none" spc="-125" strike="noStrike">
                <a:solidFill>
                  <a:srgbClr val="15130F"/>
                </a:solidFill>
                <a:effectLst/>
                <a:uFillTx/>
                <a:latin typeface="Barlow Condensed ExtraBold"/>
                <a:ea typeface="Barlow Condensed ExtraBold"/>
              </a:rPr>
              <a:t>O PROJETO RESPONDE A DUAS PERGUNTAS TÉCNICAS COMPLEMENTARES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457200" y="1926000"/>
            <a:ext cx="5486040" cy="2057760"/>
          </a:xfrm>
          <a:prstGeom prst="rect">
            <a:avLst/>
          </a:prstGeom>
          <a:solidFill>
            <a:srgbClr val="ECE7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838080" y="2281320"/>
            <a:ext cx="51048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15130F"/>
                </a:solidFill>
                <a:effectLst/>
                <a:uFillTx/>
                <a:latin typeface="IBM Plex Mono SemiBold"/>
                <a:ea typeface="IBM Plex Mono SemiBold"/>
              </a:rPr>
              <a:t>PERGUNTA 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838080" y="2540160"/>
            <a:ext cx="47239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Regressão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838080" y="3032640"/>
            <a:ext cx="472392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Estimar o valor contínuo da resistência final, em MPa.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6"/>
          <p:cNvSpPr/>
          <p:nvPr/>
        </p:nvSpPr>
        <p:spPr>
          <a:xfrm>
            <a:off x="6248160" y="1926000"/>
            <a:ext cx="5486040" cy="2057760"/>
          </a:xfrm>
          <a:prstGeom prst="rect">
            <a:avLst/>
          </a:prstGeom>
          <a:solidFill>
            <a:srgbClr val="ECE7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6629400" y="2281320"/>
            <a:ext cx="51048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15130F"/>
                </a:solidFill>
                <a:effectLst/>
                <a:uFillTx/>
                <a:latin typeface="IBM Plex Mono SemiBold"/>
                <a:ea typeface="IBM Plex Mono SemiBold"/>
              </a:rPr>
              <a:t>PERGUNTA 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6629400" y="2540160"/>
            <a:ext cx="472392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Classificação multiclasse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6629400" y="3032640"/>
            <a:ext cx="472392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Separar misturas em três faixas relativas de conformidade.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457200" y="4212360"/>
            <a:ext cx="63000" cy="1084680"/>
          </a:xfrm>
          <a:prstGeom prst="rect">
            <a:avLst/>
          </a:prstGeom>
          <a:solidFill>
            <a:srgbClr val="F258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774720" y="4440960"/>
            <a:ext cx="34412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C564C"/>
                </a:solidFill>
                <a:effectLst/>
                <a:uFillTx/>
                <a:latin typeface="IBM Plex Mono Medium"/>
                <a:ea typeface="IBM Plex Mono Medium"/>
              </a:rPr>
              <a:t>RISCO TÉCNICO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774720" y="4774680"/>
            <a:ext cx="318744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&lt; 25 MPa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4470120" y="4440960"/>
            <a:ext cx="35046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C564C"/>
                </a:solidFill>
                <a:effectLst/>
                <a:uFillTx/>
                <a:latin typeface="IBM Plex Mono Medium"/>
                <a:ea typeface="IBM Plex Mono Medium"/>
              </a:rPr>
              <a:t>ATENÇÃO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4470120" y="4774680"/>
            <a:ext cx="325080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25 a &lt; 35 MPa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5"/>
          <p:cNvSpPr/>
          <p:nvPr/>
        </p:nvSpPr>
        <p:spPr>
          <a:xfrm>
            <a:off x="8229240" y="4440960"/>
            <a:ext cx="35046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C564C"/>
                </a:solidFill>
                <a:effectLst/>
                <a:uFillTx/>
                <a:latin typeface="IBM Plex Mono Medium"/>
                <a:ea typeface="IBM Plex Mono Medium"/>
              </a:rPr>
              <a:t>BAIXO RISCO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6"/>
          <p:cNvSpPr/>
          <p:nvPr/>
        </p:nvSpPr>
        <p:spPr>
          <a:xfrm>
            <a:off x="8229240" y="4774680"/>
            <a:ext cx="325080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≥ 35 MPa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7"/>
          <p:cNvSpPr/>
          <p:nvPr/>
        </p:nvSpPr>
        <p:spPr>
          <a:xfrm>
            <a:off x="4209840" y="4212360"/>
            <a:ext cx="12240" cy="1084680"/>
          </a:xfrm>
          <a:prstGeom prst="rect">
            <a:avLst/>
          </a:prstGeom>
          <a:solidFill>
            <a:srgbClr val="C9C1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8"/>
          <p:cNvSpPr/>
          <p:nvPr/>
        </p:nvSpPr>
        <p:spPr>
          <a:xfrm>
            <a:off x="7968960" y="4212360"/>
            <a:ext cx="12240" cy="1084680"/>
          </a:xfrm>
          <a:prstGeom prst="rect">
            <a:avLst/>
          </a:prstGeom>
          <a:solidFill>
            <a:srgbClr val="C9C1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533520" y="380880"/>
            <a:ext cx="71877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3350EE"/>
                </a:solidFill>
                <a:effectLst/>
                <a:uFillTx/>
                <a:latin typeface="IBM Plex Mono SemiBold"/>
                <a:ea typeface="IBM Plex Mono SemiBold"/>
              </a:rPr>
              <a:t>04 · METODOLOGIA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533520" y="639720"/>
            <a:ext cx="6806520" cy="14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4200" b="0" u="none" spc="-125" strike="noStrike">
                <a:solidFill>
                  <a:srgbClr val="15130F"/>
                </a:solidFill>
                <a:effectLst/>
                <a:uFillTx/>
                <a:latin typeface="Barlow Condensed ExtraBold"/>
                <a:ea typeface="Barlow Condensed ExtraBold"/>
              </a:rPr>
              <a:t>O PIPELINE COMBINA PREPARAÇÃO ESTATÍSTICA E CONHECIMENTO DE DOMÍNIO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533520" y="2391120"/>
            <a:ext cx="84456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3D5AFE"/>
                </a:solidFill>
                <a:effectLst/>
                <a:uFillTx/>
                <a:latin typeface="Space Grotesk SemiBold"/>
                <a:ea typeface="Space Grotesk SemiBold"/>
              </a:rPr>
              <a:t>01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533520" y="2693160"/>
            <a:ext cx="6806520" cy="18720"/>
          </a:xfrm>
          <a:prstGeom prst="rect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533520" y="2841840"/>
            <a:ext cx="680652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Dividir os dados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533520" y="3256920"/>
            <a:ext cx="68065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80% treino e 20% teste, com estratificação.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533520" y="3758040"/>
            <a:ext cx="87732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3D5AFE"/>
                </a:solidFill>
                <a:effectLst/>
                <a:uFillTx/>
                <a:latin typeface="Space Grotesk SemiBold"/>
                <a:ea typeface="Space Grotesk SemiBold"/>
              </a:rPr>
              <a:t>02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533520" y="4060080"/>
            <a:ext cx="6806520" cy="18720"/>
          </a:xfrm>
          <a:prstGeom prst="rect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533520" y="4208760"/>
            <a:ext cx="680652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Preparar as variáveis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533520" y="4623840"/>
            <a:ext cx="68065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SimpleImputer pela mediana e StandardScaler, usando z-score.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533520" y="5124600"/>
            <a:ext cx="87984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83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3D5AFE"/>
                </a:solidFill>
                <a:effectLst/>
                <a:uFillTx/>
                <a:latin typeface="Space Grotesk SemiBold"/>
                <a:ea typeface="Space Grotesk SemiBold"/>
              </a:rPr>
              <a:t>03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>
            <a:off x="533520" y="5427000"/>
            <a:ext cx="6806520" cy="18720"/>
          </a:xfrm>
          <a:prstGeom prst="rect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533520" y="5575320"/>
            <a:ext cx="680652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Engenharia de atributos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533520" y="5990400"/>
            <a:ext cx="68065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Criar a relação água/cimento (a/c).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Image 0"/>
          <p:cNvSpPr/>
          <p:nvPr/>
        </p:nvSpPr>
        <p:spPr>
          <a:xfrm>
            <a:off x="7721280" y="0"/>
            <a:ext cx="4469760" cy="6857640"/>
          </a:xfrm>
          <a:custGeom>
            <a:avLst/>
            <a:gdLst>
              <a:gd name="textAreaLeft" fmla="*/ 0 w 4469760"/>
              <a:gd name="textAreaRight" fmla="*/ 36000000 w 4469760"/>
              <a:gd name="textAreaTop" fmla="*/ 0 h 6857640"/>
              <a:gd name="textAreaBottom" fmla="*/ 36000000 h 6857640"/>
            </a:gdLst>
            <a:ahLst/>
            <a:cxnLst/>
            <a:rect l="textAreaLeft" t="textAreaTop" r="textAreaRight" b="textAreaBottom"/>
            <a:pathLst>
              <a:path w="100000" h="100000">
                <a:moveTo>
                  <a:pt x="900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lnTo>
                  <a:pt x="0" y="1600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457200" y="457200"/>
            <a:ext cx="117342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3350EE"/>
                </a:solidFill>
                <a:effectLst/>
                <a:uFillTx/>
                <a:latin typeface="IBM Plex Mono SemiBold"/>
                <a:ea typeface="IBM Plex Mono SemiBold"/>
              </a:rPr>
              <a:t>05 · RESULTADO — REGRESSÃO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457200" y="716040"/>
            <a:ext cx="11277000" cy="9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4200" b="0" u="none" spc="-125" strike="noStrike">
                <a:solidFill>
                  <a:srgbClr val="15130F"/>
                </a:solidFill>
                <a:effectLst/>
                <a:uFillTx/>
                <a:latin typeface="Barlow Condensed ExtraBold"/>
                <a:ea typeface="Barlow Condensed ExtraBold"/>
              </a:rPr>
              <a:t>A REGRESSÃO POLINOMIAL CAPTUROU A CURVATURA DA RELAÇÃO ENTRE MISTURA, IDADE E RESISTÊNCIA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457200" y="1900440"/>
            <a:ext cx="4023000" cy="4500000"/>
          </a:xfrm>
          <a:prstGeom prst="rect">
            <a:avLst/>
          </a:prstGeom>
          <a:solidFill>
            <a:srgbClr val="1513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812880" y="2230560"/>
            <a:ext cx="366732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FFFFFF"/>
                </a:solidFill>
                <a:effectLst/>
                <a:uFillTx/>
                <a:latin typeface="IBM Plex Mono SemiBold"/>
                <a:ea typeface="IBM Plex Mono SemiBold"/>
              </a:rPr>
              <a:t>MELHOR RESULTADO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812880" y="2489400"/>
            <a:ext cx="331164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7600" b="0" u="none" spc="-227" strike="noStrike">
                <a:solidFill>
                  <a:srgbClr val="677EFE"/>
                </a:solidFill>
                <a:effectLst/>
                <a:uFillTx/>
                <a:latin typeface="Barlow Condensed ExtraBold"/>
                <a:ea typeface="Barlow Condensed ExtraBold"/>
              </a:rPr>
              <a:t>5,31</a:t>
            </a:r>
            <a:endParaRPr lang="en-US" sz="7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5"/>
          <p:cNvSpPr/>
          <p:nvPr/>
        </p:nvSpPr>
        <p:spPr>
          <a:xfrm>
            <a:off x="812880" y="3475800"/>
            <a:ext cx="3311640" cy="37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Space Grotesk Medium"/>
                <a:ea typeface="Space Grotesk Medium"/>
              </a:rPr>
              <a:t>MPa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6"/>
          <p:cNvSpPr/>
          <p:nvPr/>
        </p:nvSpPr>
        <p:spPr>
          <a:xfrm>
            <a:off x="812880" y="3968280"/>
            <a:ext cx="36673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MAE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812880" y="4418280"/>
            <a:ext cx="1092600" cy="37800"/>
          </a:xfrm>
          <a:prstGeom prst="roundRect">
            <a:avLst>
              <a:gd name="adj" fmla="val 49999"/>
            </a:avLst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000" rIns="90000" bIns="-18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812880" y="4662720"/>
            <a:ext cx="33116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5800" b="0" u="none" spc="-173" strike="noStrike">
                <a:solidFill>
                  <a:srgbClr val="677EFE"/>
                </a:solidFill>
                <a:effectLst/>
                <a:uFillTx/>
                <a:latin typeface="Barlow Condensed ExtraBold"/>
                <a:ea typeface="Barlow Condensed ExtraBold"/>
              </a:rPr>
              <a:t>0,816</a:t>
            </a:r>
            <a:endParaRPr lang="en-US" sz="5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812880" y="5508720"/>
            <a:ext cx="36673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FFFFF"/>
                </a:solidFill>
                <a:effectLst/>
                <a:uFillTx/>
                <a:latin typeface="Space Grotesk"/>
                <a:ea typeface="Space Grotesk"/>
              </a:rPr>
              <a:t>R²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5090040" y="2027520"/>
            <a:ext cx="664416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C564C"/>
                </a:solidFill>
                <a:effectLst/>
                <a:uFillTx/>
                <a:latin typeface="IBM Plex Mono Medium"/>
                <a:ea typeface="IBM Plex Mono Medium"/>
              </a:rPr>
              <a:t>COMPARAÇÃO DE MODELOS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5090040" y="2459160"/>
            <a:ext cx="651708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Baseline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5090040" y="3058560"/>
            <a:ext cx="651708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Regressão linear simples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3"/>
          <p:cNvSpPr/>
          <p:nvPr/>
        </p:nvSpPr>
        <p:spPr>
          <a:xfrm>
            <a:off x="5090040" y="3657600"/>
            <a:ext cx="651708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Linear múltipla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4"/>
          <p:cNvSpPr/>
          <p:nvPr/>
        </p:nvSpPr>
        <p:spPr>
          <a:xfrm>
            <a:off x="5090040" y="4104360"/>
            <a:ext cx="63000" cy="1017360"/>
          </a:xfrm>
          <a:prstGeom prst="rect">
            <a:avLst/>
          </a:prstGeom>
          <a:solidFill>
            <a:srgbClr val="3D5A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5382000" y="4257000"/>
            <a:ext cx="622512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15130F"/>
                </a:solidFill>
                <a:effectLst/>
                <a:uFillTx/>
                <a:latin typeface="Space Grotesk Medium"/>
                <a:ea typeface="Space Grotesk Medium"/>
              </a:rPr>
              <a:t>Regressão polinomial de grau 2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5382000" y="4672080"/>
            <a:ext cx="622512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Melhor resultado.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5090040" y="5797440"/>
            <a:ext cx="65170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1520" rIns="0" bIns="0" anchor="t">
            <a:norm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C564C"/>
                </a:solidFill>
                <a:effectLst/>
                <a:uFillTx/>
                <a:latin typeface="IBM Plex Mono Medium"/>
                <a:ea typeface="IBM Plex Mono Medium"/>
              </a:rPr>
              <a:t>LEITURA TÉCNICA · INGREDIENTES E TEMPO INTERAGEM DE FORMA CURVA, NÃO LINEAR.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8"/>
          <p:cNvSpPr/>
          <p:nvPr/>
        </p:nvSpPr>
        <p:spPr>
          <a:xfrm>
            <a:off x="5090040" y="5810040"/>
            <a:ext cx="88560" cy="69480"/>
          </a:xfrm>
          <a:prstGeom prst="rect">
            <a:avLst/>
          </a:prstGeom>
          <a:solidFill>
            <a:srgbClr val="1513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9"/>
          <p:cNvSpPr/>
          <p:nvPr/>
        </p:nvSpPr>
        <p:spPr>
          <a:xfrm>
            <a:off x="5090040" y="2899800"/>
            <a:ext cx="6517080" cy="12240"/>
          </a:xfrm>
          <a:prstGeom prst="rect">
            <a:avLst/>
          </a:prstGeom>
          <a:solidFill>
            <a:srgbClr val="C9C1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0"/>
          <p:cNvSpPr/>
          <p:nvPr/>
        </p:nvSpPr>
        <p:spPr>
          <a:xfrm>
            <a:off x="5090040" y="3498840"/>
            <a:ext cx="6517080" cy="12240"/>
          </a:xfrm>
          <a:prstGeom prst="rect">
            <a:avLst/>
          </a:prstGeom>
          <a:solidFill>
            <a:srgbClr val="C9C1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21"/>
          <p:cNvSpPr/>
          <p:nvPr/>
        </p:nvSpPr>
        <p:spPr>
          <a:xfrm>
            <a:off x="5090040" y="4098240"/>
            <a:ext cx="6517080" cy="12240"/>
          </a:xfrm>
          <a:prstGeom prst="rect">
            <a:avLst/>
          </a:prstGeom>
          <a:solidFill>
            <a:srgbClr val="C9C1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3657240" cy="6857640"/>
          </a:xfrm>
          <a:prstGeom prst="rect">
            <a:avLst/>
          </a:prstGeom>
          <a:solidFill>
            <a:srgbClr val="1513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380880" y="406440"/>
            <a:ext cx="299664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FFFFFF"/>
                </a:solidFill>
                <a:effectLst/>
                <a:uFillTx/>
                <a:latin typeface="IBM Plex Mono SemiBold"/>
                <a:ea typeface="IBM Plex Mono SemiBold"/>
              </a:rPr>
              <a:t>06 · RESULTADO — CLASSIFICAÇÃO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"/>
          <p:cNvSpPr/>
          <p:nvPr/>
        </p:nvSpPr>
        <p:spPr>
          <a:xfrm>
            <a:off x="380880" y="853920"/>
            <a:ext cx="2996640" cy="6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5800" b="0" u="none" spc="-173" strike="noStrike">
                <a:solidFill>
                  <a:srgbClr val="FFFFFF"/>
                </a:solidFill>
                <a:effectLst/>
                <a:uFillTx/>
                <a:latin typeface="Barlow Condensed ExtraBold"/>
                <a:ea typeface="Barlow Condensed ExtraBold"/>
              </a:rPr>
              <a:t>KNN</a:t>
            </a:r>
            <a:endParaRPr lang="en-US" sz="5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380880" y="6026040"/>
            <a:ext cx="299664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1520" rIns="0" bIns="0" anchor="t">
            <a:norm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IBM Plex Mono Medium"/>
                <a:ea typeface="IBM Plex Mono Medium"/>
              </a:rPr>
              <a:t>PRIORIZAÇÃO DOS CASOS DE MAIOR RISCO TÉCNICO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"/>
          <p:cNvSpPr/>
          <p:nvPr/>
        </p:nvSpPr>
        <p:spPr>
          <a:xfrm>
            <a:off x="380880" y="6038640"/>
            <a:ext cx="88560" cy="69480"/>
          </a:xfrm>
          <a:prstGeom prst="rect">
            <a:avLst/>
          </a:prstGeom>
          <a:solidFill>
            <a:srgbClr val="1513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4089240" y="380880"/>
            <a:ext cx="7619400" cy="9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4200" b="0" u="none" spc="-125" strike="noStrike">
                <a:solidFill>
                  <a:srgbClr val="15130F"/>
                </a:solidFill>
                <a:effectLst/>
                <a:uFillTx/>
                <a:latin typeface="Barlow Condensed ExtraBold"/>
                <a:ea typeface="Barlow Condensed ExtraBold"/>
              </a:rPr>
              <a:t>O KNN PRIORIZOU A IDENTIFICAÇÃO DOS CASOS DE MAIOR RISCO TÉCNICO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6"/>
          <p:cNvSpPr/>
          <p:nvPr/>
        </p:nvSpPr>
        <p:spPr>
          <a:xfrm>
            <a:off x="4089240" y="1540080"/>
            <a:ext cx="3657240" cy="2469240"/>
          </a:xfrm>
          <a:prstGeom prst="rect">
            <a:avLst/>
          </a:prstGeom>
          <a:solidFill>
            <a:srgbClr val="ECE7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7"/>
          <p:cNvSpPr/>
          <p:nvPr/>
        </p:nvSpPr>
        <p:spPr>
          <a:xfrm>
            <a:off x="4394160" y="1819440"/>
            <a:ext cx="335232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15130F"/>
                </a:solidFill>
                <a:effectLst/>
                <a:uFillTx/>
                <a:latin typeface="IBM Plex Mono SemiBold"/>
                <a:ea typeface="IBM Plex Mono SemiBold"/>
              </a:rPr>
              <a:t>ACURÁCIA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8"/>
          <p:cNvSpPr/>
          <p:nvPr/>
        </p:nvSpPr>
        <p:spPr>
          <a:xfrm>
            <a:off x="4394160" y="2078280"/>
            <a:ext cx="304740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7600" b="0" u="none" spc="-227" strike="noStrike">
                <a:solidFill>
                  <a:srgbClr val="3D5AFE"/>
                </a:solidFill>
                <a:effectLst/>
                <a:uFillTx/>
                <a:latin typeface="Barlow Condensed ExtraBold"/>
                <a:ea typeface="Barlow Condensed ExtraBold"/>
              </a:rPr>
              <a:t>85,07%</a:t>
            </a:r>
            <a:endParaRPr lang="en-US" sz="7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9"/>
          <p:cNvSpPr/>
          <p:nvPr/>
        </p:nvSpPr>
        <p:spPr>
          <a:xfrm>
            <a:off x="4394160" y="3134520"/>
            <a:ext cx="304740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KNN com distância Manhattan e k=5.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0"/>
          <p:cNvSpPr/>
          <p:nvPr/>
        </p:nvSpPr>
        <p:spPr>
          <a:xfrm>
            <a:off x="8051760" y="1540080"/>
            <a:ext cx="3657240" cy="2469240"/>
          </a:xfrm>
          <a:prstGeom prst="rect">
            <a:avLst/>
          </a:prstGeom>
          <a:solidFill>
            <a:srgbClr val="ECE7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1"/>
          <p:cNvSpPr/>
          <p:nvPr/>
        </p:nvSpPr>
        <p:spPr>
          <a:xfrm>
            <a:off x="8051760" y="1540080"/>
            <a:ext cx="63000" cy="2469240"/>
          </a:xfrm>
          <a:prstGeom prst="rect">
            <a:avLst/>
          </a:prstGeom>
          <a:solidFill>
            <a:srgbClr val="F258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8420040" y="1819440"/>
            <a:ext cx="32889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15130F"/>
                </a:solidFill>
                <a:effectLst/>
                <a:uFillTx/>
                <a:latin typeface="IBM Plex Mono SemiBold"/>
                <a:ea typeface="IBM Plex Mono SemiBold"/>
              </a:rPr>
              <a:t>RECALL · RISCO TÉCNICO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8420040" y="2078280"/>
            <a:ext cx="2984040" cy="8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7600" b="0" u="none" spc="-227" strike="noStrike">
                <a:solidFill>
                  <a:srgbClr val="15130F"/>
                </a:solidFill>
                <a:effectLst/>
                <a:uFillTx/>
                <a:latin typeface="Barlow Condensed ExtraBold"/>
                <a:ea typeface="Barlow Condensed ExtraBold"/>
              </a:rPr>
              <a:t>89,29%</a:t>
            </a:r>
            <a:endParaRPr lang="en-US" sz="7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4"/>
          <p:cNvSpPr/>
          <p:nvPr/>
        </p:nvSpPr>
        <p:spPr>
          <a:xfrm>
            <a:off x="8420040" y="3134520"/>
            <a:ext cx="298404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Reduzindo falsos negativos relevantes.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5"/>
          <p:cNvSpPr/>
          <p:nvPr/>
        </p:nvSpPr>
        <p:spPr>
          <a:xfrm>
            <a:off x="4089240" y="4187160"/>
            <a:ext cx="761940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1520" rIns="0" bIns="0" anchor="t">
            <a:norm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C564C"/>
                </a:solidFill>
                <a:effectLst/>
                <a:uFillTx/>
                <a:latin typeface="IBM Plex Mono Medium"/>
                <a:ea typeface="IBM Plex Mono Medium"/>
              </a:rPr>
              <a:t>COMPARAÇÃO · BASELINE PELA MODA · REGRESSÃO LOGÍSTICA · KNN COM k=5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6"/>
          <p:cNvSpPr/>
          <p:nvPr/>
        </p:nvSpPr>
        <p:spPr>
          <a:xfrm>
            <a:off x="4089240" y="4200120"/>
            <a:ext cx="88560" cy="69480"/>
          </a:xfrm>
          <a:prstGeom prst="rect">
            <a:avLst/>
          </a:prstGeom>
          <a:solidFill>
            <a:srgbClr val="1513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533520" y="431640"/>
            <a:ext cx="678132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3350EE"/>
                </a:solidFill>
                <a:effectLst/>
                <a:uFillTx/>
                <a:latin typeface="IBM Plex Mono SemiBold"/>
                <a:ea typeface="IBM Plex Mono SemiBold"/>
              </a:rPr>
              <a:t>07 · CONCLUSÃO E RECOMENDAÇÃO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533520" y="690480"/>
            <a:ext cx="6349320" cy="19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4200" b="0" u="none" spc="-125" strike="noStrike">
                <a:solidFill>
                  <a:srgbClr val="15130F"/>
                </a:solidFill>
                <a:effectLst/>
                <a:uFillTx/>
                <a:latin typeface="Barlow Condensed ExtraBold"/>
                <a:ea typeface="Barlow Condensed ExtraBold"/>
              </a:rPr>
              <a:t>A COMBINAÇÃO DOS MODELOS APOIA DECISÕES MAIS RÁPIDAS SEM SUBSTITUIR O CONTROLE NORMATIVO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533520" y="2922840"/>
            <a:ext cx="634932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O ganho técnico sobre soluções simplificadas ficou comprovado estatisticamente.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533520" y="3722040"/>
            <a:ext cx="634932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Modelos lineares perdem precisão diante das interações químicas complexas de cura de segunda ordem.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533520" y="4419360"/>
            <a:ext cx="63000" cy="1238400"/>
          </a:xfrm>
          <a:prstGeom prst="rect">
            <a:avLst/>
          </a:prstGeom>
          <a:solidFill>
            <a:srgbClr val="F258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825480" y="4596840"/>
            <a:ext cx="605736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3350EE"/>
                </a:solidFill>
                <a:effectLst/>
                <a:uFillTx/>
                <a:latin typeface="IBM Plex Mono SemiBold"/>
                <a:ea typeface="IBM Plex Mono SemiBold"/>
              </a:rPr>
              <a:t>RECOMENDAÇÃO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825480" y="4884480"/>
            <a:ext cx="6057360" cy="59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5130F"/>
                </a:solidFill>
                <a:effectLst/>
                <a:uFillTx/>
                <a:latin typeface="Space Grotesk Bold"/>
                <a:ea typeface="Space Grotesk Bold"/>
              </a:rPr>
              <a:t>Regressão Polinomial</a:t>
            </a: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 para estimar MPa e </a:t>
            </a:r>
            <a:r>
              <a:rPr lang="en-US" sz="1700" b="1" u="none" strike="noStrike">
                <a:solidFill>
                  <a:srgbClr val="15130F"/>
                </a:solidFill>
                <a:effectLst/>
                <a:uFillTx/>
                <a:latin typeface="Space Grotesk Bold"/>
                <a:ea typeface="Space Grotesk Bold"/>
              </a:rPr>
              <a:t>KNN</a:t>
            </a: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 para triar riscos nas centrais dosadoras.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533520" y="6026040"/>
            <a:ext cx="63493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1520" rIns="0" bIns="0" anchor="t">
            <a:norm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C564C"/>
                </a:solidFill>
                <a:effectLst/>
                <a:uFillTx/>
                <a:latin typeface="IBM Plex Mono Medium"/>
                <a:ea typeface="IBM Plex Mono Medium"/>
              </a:rPr>
              <a:t>FERRAMENTA COMPLEMENTAR · TRIAGEM E ESTIMATIVA PRÉVIA · CONTROLE NORMATIVO PRESERVADO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533520" y="6038640"/>
            <a:ext cx="88560" cy="69480"/>
          </a:xfrm>
          <a:prstGeom prst="rect">
            <a:avLst/>
          </a:prstGeom>
          <a:solidFill>
            <a:srgbClr val="1513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4840" rIns="90000" bIns="248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0" descr="preencoded.png"/>
          <p:cNvPicPr/>
          <p:nvPr/>
        </p:nvPicPr>
        <p:blipFill>
          <a:blip r:embed="rId1"/>
          <a:stretch/>
        </p:blipFill>
        <p:spPr>
          <a:xfrm>
            <a:off x="7314840" y="0"/>
            <a:ext cx="48762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Shape 9"/>
          <p:cNvSpPr/>
          <p:nvPr/>
        </p:nvSpPr>
        <p:spPr>
          <a:xfrm>
            <a:off x="533520" y="3614040"/>
            <a:ext cx="6349320" cy="12240"/>
          </a:xfrm>
          <a:prstGeom prst="rect">
            <a:avLst/>
          </a:prstGeom>
          <a:solidFill>
            <a:srgbClr val="C9C1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0"/>
          <p:cNvSpPr/>
          <p:nvPr/>
        </p:nvSpPr>
        <p:spPr>
          <a:xfrm>
            <a:off x="533520" y="4412880"/>
            <a:ext cx="6349320" cy="12240"/>
          </a:xfrm>
          <a:prstGeom prst="rect">
            <a:avLst/>
          </a:prstGeom>
          <a:solidFill>
            <a:srgbClr val="C9C1B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457200" y="2505600"/>
            <a:ext cx="117342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3000"/>
              </a:lnSpc>
              <a:tabLst>
                <a:tab pos="0" algn="l"/>
              </a:tabLst>
            </a:pPr>
            <a:r>
              <a:rPr lang="en-US" sz="1200" b="0" u="none" spc="91" strike="noStrike">
                <a:solidFill>
                  <a:srgbClr val="3350EE"/>
                </a:solidFill>
                <a:effectLst/>
                <a:uFillTx/>
                <a:latin typeface="IBM Plex Mono SemiBold"/>
                <a:ea typeface="IBM Plex Mono SemiBold"/>
              </a:rPr>
              <a:t>ENCERRAMENTO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457200" y="2764440"/>
            <a:ext cx="11277000" cy="11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77000"/>
              </a:lnSpc>
              <a:tabLst>
                <a:tab pos="0" algn="l"/>
              </a:tabLst>
            </a:pPr>
            <a:r>
              <a:rPr lang="en-US" sz="9600" b="0" u="none" spc="-289" strike="noStrike">
                <a:solidFill>
                  <a:srgbClr val="15130F"/>
                </a:solidFill>
                <a:effectLst/>
                <a:uFillTx/>
                <a:latin typeface="Barlow Condensed ExtraBold"/>
                <a:ea typeface="Barlow Condensed ExtraBold"/>
              </a:rPr>
              <a:t>OBRIGADO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457200" y="4054320"/>
            <a:ext cx="1173420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5130F"/>
                </a:solidFill>
                <a:effectLst/>
                <a:uFillTx/>
                <a:latin typeface="Space Grotesk"/>
                <a:ea typeface="Space Grotesk"/>
              </a:rPr>
              <a:t>Agradecemos a atenção.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LibreOffice/26.2.6.1$Windows_X86_64 LibreOffice_project/d1ee4fa77ef37aa4cfa80ea6fd156dcae5d60263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2026-10-02T18:16:02Z</dcterms:created>
  <dc:creator/>
  <dc:description/>
  <dc:language>en-US</dc:language>
  <cp:lastModifiedBy/>
  <dcterms:modified xsi:type="dcterms:W3CDTF">2026-10-02T15:39:11Z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